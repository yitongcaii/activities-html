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27" y="731520"/>
            <a:ext cx="32918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4D2FF"/>
                </a:solidFill>
                <a:latin typeface="Arial Black"/>
              </a:defRPr>
            </a:pPr>
            <a:r>
              <a:t>AISee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AFD2"/>
                </a:solidFill>
                <a:latin typeface="Arial"/>
              </a:defRPr>
            </a:pPr>
            <a:r>
              <a:t>Brand Logo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1B9"/>
                </a:solidFill>
                <a:latin typeface="Arial"/>
              </a:defRPr>
            </a:pPr>
            <a:r>
              <a:t>渐变流光 · 盾牌守护 · 智能安全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4864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82AA"/>
                </a:solidFill>
                <a:latin typeface="Arial"/>
              </a:defRPr>
            </a:pPr>
            <a:r>
              <a:t>VERSION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64D2FF"/>
                </a:solidFill>
                <a:latin typeface="Arial Black"/>
              </a:defRPr>
            </a:pPr>
            <a:r>
              <a:t>深空流光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29BC3"/>
                </a:solidFill>
                <a:latin typeface="Arial"/>
              </a:defRPr>
            </a:pPr>
            <a:r>
              <a:t>Deep Space Glow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926080"/>
            <a:ext cx="4846320" cy="2926080"/>
          </a:xfrm>
          <a:prstGeom prst="rect">
            <a:avLst/>
          </a:prstGeom>
          <a:solidFill>
            <a:srgbClr val="0F1630"/>
          </a:solidFill>
          <a:ln w="12700"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2004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深色背景搭配电光蓝流光效果，科技感强烈</a:t>
            </a:r>
          </a:p>
          <a:p>
            <a:pPr>
              <a:defRPr sz="800">
                <a:solidFill>
                  <a:srgbClr val="AABEDC"/>
                </a:solidFill>
                <a:latin typeface="Arial"/>
              </a:defRPr>
            </a:pPr>
          </a:p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盾牌内部嵌入 AI 之眼符号，象征智能洞察</a:t>
            </a:r>
          </a:p>
          <a:p>
            <a:pPr>
              <a:defRPr sz="800">
                <a:solidFill>
                  <a:srgbClr val="AABEDC"/>
                </a:solidFill>
                <a:latin typeface="Arial"/>
              </a:defRPr>
            </a:pPr>
          </a:p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粒子光效环绕盾牌，象征全方位智能防护</a:t>
            </a:r>
          </a:p>
          <a:p>
            <a:pPr>
              <a:defRPr sz="800">
                <a:solidFill>
                  <a:srgbClr val="AABEDC"/>
                </a:solidFill>
                <a:latin typeface="Arial"/>
              </a:defRPr>
            </a:pPr>
          </a:p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适合安全产品主品牌标识、发布会等场景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4864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468C"/>
                </a:solidFill>
                <a:latin typeface="Arial"/>
              </a:defRPr>
            </a:pPr>
            <a:r>
              <a:t>VERSION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C64FF"/>
                </a:solidFill>
                <a:latin typeface="Arial Black"/>
              </a:defRPr>
            </a:pPr>
            <a:r>
              <a:t>极简白境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559B"/>
                </a:solidFill>
                <a:latin typeface="Arial"/>
              </a:defRPr>
            </a:pPr>
            <a:r>
              <a:t>Minimal White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926080"/>
            <a:ext cx="4846320" cy="2926080"/>
          </a:xfrm>
          <a:prstGeom prst="rect">
            <a:avLst/>
          </a:prstGeom>
          <a:solidFill>
            <a:srgbClr val="F8F8FF"/>
          </a:solidFill>
          <a:ln w="12700">
            <a:solidFill>
              <a:srgbClr val="82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2004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C375A"/>
                </a:solidFill>
                <a:latin typeface="Arial"/>
              </a:defRPr>
            </a:pPr>
            <a:r>
              <a:t>•  白色背景上的蓝紫渐变盾牌，简洁优雅</a:t>
            </a:r>
          </a:p>
          <a:p>
            <a:pPr>
              <a:defRPr sz="800">
                <a:solidFill>
                  <a:srgbClr val="3C375A"/>
                </a:solidFill>
                <a:latin typeface="Arial"/>
              </a:defRPr>
            </a:pPr>
          </a:p>
          <a:p>
            <a:pPr>
              <a:defRPr sz="1500">
                <a:solidFill>
                  <a:srgbClr val="3C375A"/>
                </a:solidFill>
                <a:latin typeface="Arial"/>
              </a:defRPr>
            </a:pPr>
            <a:r>
              <a:t>•  柔和阴影与光粒子保持品牌一致性</a:t>
            </a:r>
          </a:p>
          <a:p>
            <a:pPr>
              <a:defRPr sz="800">
                <a:solidFill>
                  <a:srgbClr val="3C375A"/>
                </a:solidFill>
                <a:latin typeface="Arial"/>
              </a:defRPr>
            </a:pPr>
          </a:p>
          <a:p>
            <a:pPr>
              <a:defRPr sz="1500">
                <a:solidFill>
                  <a:srgbClr val="3C375A"/>
                </a:solidFill>
                <a:latin typeface="Arial"/>
              </a:defRPr>
            </a:pPr>
            <a:r>
              <a:t>•  适合浅色主题文档、合作伙伴展示</a:t>
            </a:r>
          </a:p>
          <a:p>
            <a:pPr>
              <a:defRPr sz="800">
                <a:solidFill>
                  <a:srgbClr val="3C375A"/>
                </a:solidFill>
                <a:latin typeface="Arial"/>
              </a:defRPr>
            </a:pPr>
          </a:p>
          <a:p>
            <a:pPr>
              <a:defRPr sz="1500">
                <a:solidFill>
                  <a:srgbClr val="3C375A"/>
                </a:solidFill>
                <a:latin typeface="Arial"/>
              </a:defRPr>
            </a:pPr>
            <a:r>
              <a:t>•  打印友好，适合纸质物料与周边制作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aur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4864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82AA"/>
                </a:solidFill>
                <a:latin typeface="Arial"/>
              </a:defRPr>
            </a:pPr>
            <a:r>
              <a:t>VERSION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2B4FF"/>
                </a:solidFill>
                <a:latin typeface="Arial Black"/>
              </a:defRPr>
            </a:pPr>
            <a:r>
              <a:t>极光幻境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29BC3"/>
                </a:solidFill>
                <a:latin typeface="Arial"/>
              </a:defRPr>
            </a:pPr>
            <a:r>
              <a:t>Aurora Fantasy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926080"/>
            <a:ext cx="4846320" cy="2926080"/>
          </a:xfrm>
          <a:prstGeom prst="rect">
            <a:avLst/>
          </a:prstGeom>
          <a:solidFill>
            <a:srgbClr val="0F142D"/>
          </a:solidFill>
          <a:ln w="12700">
            <a:solidFill>
              <a:srgbClr val="46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2004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极光背景效果搭配增强版流光盾牌</a:t>
            </a:r>
          </a:p>
          <a:p>
            <a:pPr>
              <a:defRPr sz="800">
                <a:solidFill>
                  <a:srgbClr val="AABEDC"/>
                </a:solidFill>
                <a:latin typeface="Arial"/>
              </a:defRPr>
            </a:pPr>
          </a:p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蓝紫渐变光带从盾牌向外辐射，视觉冲击力最强</a:t>
            </a:r>
          </a:p>
          <a:p>
            <a:pPr>
              <a:defRPr sz="800">
                <a:solidFill>
                  <a:srgbClr val="AABEDC"/>
                </a:solidFill>
                <a:latin typeface="Arial"/>
              </a:defRPr>
            </a:pPr>
          </a:p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增强的粒子效果与光线辐射</a:t>
            </a:r>
          </a:p>
          <a:p>
            <a:pPr>
              <a:defRPr sz="800">
                <a:solidFill>
                  <a:srgbClr val="AABEDC"/>
                </a:solidFill>
                <a:latin typeface="Arial"/>
              </a:defRPr>
            </a:pPr>
          </a:p>
          <a:p>
            <a:pPr>
              <a:defRPr sz="1500">
                <a:solidFill>
                  <a:srgbClr val="AABEDC"/>
                </a:solidFill>
                <a:latin typeface="Arial"/>
              </a:defRPr>
            </a:pPr>
            <a:r>
              <a:t>•  适合品牌展示、发布会、宣传海报等高光场景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4D2FF"/>
                </a:solidFill>
                <a:latin typeface="Arial Black"/>
              </a:defRPr>
            </a:pPr>
            <a:r>
              <a:t>三版对比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1B9"/>
                </a:solidFill>
                <a:latin typeface="Arial"/>
              </a:defRPr>
            </a:pPr>
            <a: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29487" y="1828800"/>
            <a:ext cx="3108960" cy="4389120"/>
          </a:xfrm>
          <a:prstGeom prst="rect">
            <a:avLst/>
          </a:prstGeom>
          <a:solidFill>
            <a:srgbClr val="0F1630"/>
          </a:solidFill>
          <a:ln w="12700"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dark_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"/>
            <a:ext cx="2743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9487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D2FF"/>
                </a:solidFill>
                <a:latin typeface="Arial"/>
              </a:defRPr>
            </a:pPr>
            <a:r>
              <a:t>深空流光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487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4"/>
                </a:solidFill>
                <a:latin typeface="Arial"/>
              </a:defRPr>
            </a:pPr>
            <a:r>
              <a:t>深色主题 · 电光蓝 · 科技感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1367" y="1828800"/>
            <a:ext cx="3108960" cy="4389120"/>
          </a:xfrm>
          <a:prstGeom prst="rect">
            <a:avLst/>
          </a:prstGeom>
          <a:solidFill>
            <a:srgbClr val="F8F8FF"/>
          </a:solidFill>
          <a:ln w="12700">
            <a:solidFill>
              <a:srgbClr val="82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light_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" y="2"/>
            <a:ext cx="27432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1367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64FF"/>
                </a:solidFill>
                <a:latin typeface="Arial"/>
              </a:defRPr>
            </a:pPr>
            <a:r>
              <a:t>极简白境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4678"/>
                </a:solidFill>
                <a:latin typeface="Arial"/>
              </a:defRPr>
            </a:pPr>
            <a:r>
              <a:t>浅色主题 · 蓝紫渐变 · 优雅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3247" y="1828800"/>
            <a:ext cx="3108960" cy="4389120"/>
          </a:xfrm>
          <a:prstGeom prst="rect">
            <a:avLst/>
          </a:prstGeom>
          <a:solidFill>
            <a:srgbClr val="0F142D"/>
          </a:solidFill>
          <a:ln w="12700">
            <a:solidFill>
              <a:srgbClr val="46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aurora_s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" y="2"/>
            <a:ext cx="2743200" cy="2743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53247" y="5029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D2FF"/>
                </a:solidFill>
                <a:latin typeface="Arial"/>
              </a:defRPr>
            </a:pPr>
            <a:r>
              <a:t>极光幻境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3247" y="5486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4"/>
                </a:solidFill>
                <a:latin typeface="Arial"/>
              </a:defRPr>
            </a:pPr>
            <a:r>
              <a:t>极光效果 · 全彩流光 · 震撼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5FF"/>
                </a:solidFill>
                <a:latin typeface="Arial Black"/>
              </a:defRPr>
            </a:pPr>
            <a:r>
              <a:t>设计元素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1B9"/>
                </a:solidFill>
                <a:latin typeface="Arial"/>
              </a:defRPr>
            </a:pPr>
            <a:r>
              <a:t>DESIGN ELEMENTS</a:t>
            </a:r>
          </a:p>
        </p:txBody>
      </p:sp>
      <p:pic>
        <p:nvPicPr>
          <p:cNvPr id="5" name="Picture 4" descr="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256032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C8E6"/>
                </a:solidFill>
                <a:latin typeface="Arial"/>
              </a:defRPr>
            </a:pPr>
            <a:r>
              <a:t>图标版本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891AF"/>
                </a:solidFill>
                <a:latin typeface="Arial"/>
              </a:defRPr>
            </a:pPr>
            <a:r>
              <a:t>App Icon / Favicon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2103120" cy="1828800"/>
          </a:xfrm>
          <a:prstGeom prst="rect">
            <a:avLst/>
          </a:prstGeom>
          <a:solidFill>
            <a:srgbClr val="0F1630"/>
          </a:solidFill>
          <a:ln w="12700"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74519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D2FF"/>
                </a:solidFill>
                <a:latin typeface="Arial"/>
              </a:defRPr>
            </a:pPr>
            <a:r>
              <a:t>盾牌 Shield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423160"/>
            <a:ext cx="182879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BAAC8"/>
                </a:solidFill>
                <a:latin typeface="Arial"/>
              </a:defRPr>
            </a:pPr>
            <a:r>
              <a:t>安全守护的核心符号，几何化的未来感设计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79" y="1645920"/>
            <a:ext cx="2103120" cy="1828800"/>
          </a:xfrm>
          <a:prstGeom prst="rect">
            <a:avLst/>
          </a:prstGeom>
          <a:solidFill>
            <a:srgbClr val="0F1630"/>
          </a:solidFill>
          <a:ln w="12700"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874519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D2FF"/>
                </a:solidFill>
                <a:latin typeface="Arial"/>
              </a:defRPr>
            </a:pPr>
            <a:r>
              <a:t>AI 之眼 Eye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23160"/>
            <a:ext cx="182879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BAAC8"/>
                </a:solidFill>
                <a:latin typeface="Arial"/>
              </a:defRPr>
            </a:pPr>
            <a:r>
              <a:t>嵌入盾牌内部，象征 AI 智能洞察力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931920"/>
            <a:ext cx="2103120" cy="1828800"/>
          </a:xfrm>
          <a:prstGeom prst="rect">
            <a:avLst/>
          </a:prstGeom>
          <a:solidFill>
            <a:srgbClr val="0F1630"/>
          </a:solidFill>
          <a:ln w="12700"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16052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D2FF"/>
                </a:solidFill>
                <a:latin typeface="Arial"/>
              </a:defRPr>
            </a:pPr>
            <a:r>
              <a:t>流光粒子 Glow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709159"/>
            <a:ext cx="182879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BAAC8"/>
                </a:solidFill>
                <a:latin typeface="Arial"/>
              </a:defRPr>
            </a:pPr>
            <a:r>
              <a:t>环绕盾牌的光粒子效果，增强动态科技感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12279" y="3931920"/>
            <a:ext cx="2103120" cy="1828800"/>
          </a:xfrm>
          <a:prstGeom prst="rect">
            <a:avLst/>
          </a:prstGeom>
          <a:solidFill>
            <a:srgbClr val="0F1630"/>
          </a:solidFill>
          <a:ln w="12700">
            <a:solidFill>
              <a:srgbClr val="32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160520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D2FF"/>
                </a:solidFill>
                <a:latin typeface="Arial"/>
              </a:defRPr>
            </a:pPr>
            <a:r>
              <a:t>渐变色 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09159"/>
            <a:ext cx="182879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BAAC8"/>
                </a:solidFill>
                <a:latin typeface="Arial"/>
              </a:defRPr>
            </a:pPr>
            <a:r>
              <a:t>蓝紫渐变主色调，融合冷色科技与暖色信赖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0F5FF"/>
                </a:solidFill>
                <a:latin typeface="Arial Black"/>
              </a:defRPr>
            </a:pPr>
            <a:r>
              <a:t>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91B9"/>
                </a:solidFill>
                <a:latin typeface="Arial"/>
              </a:defRPr>
            </a:pPr>
            <a:r>
              <a:t>APPLICATION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1737360"/>
            <a:ext cx="3200400" cy="2286000"/>
          </a:xfrm>
          <a:prstGeom prst="rect">
            <a:avLst/>
          </a:prstGeom>
          <a:solidFill>
            <a:srgbClr val="0F1630"/>
          </a:solidFill>
          <a:ln w="12700">
            <a:solidFill>
              <a:srgbClr val="2D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2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6607" y="2834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D2F0"/>
                </a:solidFill>
                <a:latin typeface="Arial"/>
              </a:defRPr>
            </a:pPr>
            <a:r>
              <a:t>App 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9"/>
                </a:solidFill>
                <a:latin typeface="Arial"/>
              </a:defRPr>
            </a:pPr>
            <a:r>
              <a:t>移动端与桌面应用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1737360"/>
            <a:ext cx="3200400" cy="2286000"/>
          </a:xfrm>
          <a:prstGeom prst="rect">
            <a:avLst/>
          </a:prstGeom>
          <a:solidFill>
            <a:srgbClr val="0F1630"/>
          </a:solidFill>
          <a:ln w="12700">
            <a:solidFill>
              <a:srgbClr val="2D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" y="2"/>
            <a:ext cx="73152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95647" y="2834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D2F0"/>
                </a:solidFill>
                <a:latin typeface="Arial"/>
              </a:defRPr>
            </a:pPr>
            <a:r>
              <a:t>Favicon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9"/>
                </a:solidFill>
                <a:latin typeface="Arial"/>
              </a:defRPr>
            </a:pPr>
            <a:r>
              <a:t>浏览器标签页标识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4687" y="1737360"/>
            <a:ext cx="3200400" cy="2286000"/>
          </a:xfrm>
          <a:prstGeom prst="rect">
            <a:avLst/>
          </a:prstGeom>
          <a:solidFill>
            <a:srgbClr val="0F1630"/>
          </a:solidFill>
          <a:ln w="12700">
            <a:solidFill>
              <a:srgbClr val="2D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" y="2"/>
            <a:ext cx="731520" cy="731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44687" y="2834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D2F0"/>
                </a:solidFill>
                <a:latin typeface="Arial"/>
              </a:defRPr>
            </a:pPr>
            <a:r>
              <a:t>社交媒体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687" y="32918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9"/>
                </a:solidFill>
                <a:latin typeface="Arial"/>
              </a:defRPr>
            </a:pPr>
            <a:r>
              <a:t>头像与品牌主页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6607" y="4480560"/>
            <a:ext cx="3200400" cy="2286000"/>
          </a:xfrm>
          <a:prstGeom prst="rect">
            <a:avLst/>
          </a:prstGeom>
          <a:solidFill>
            <a:srgbClr val="0F1630"/>
          </a:solidFill>
          <a:ln w="12700">
            <a:solidFill>
              <a:srgbClr val="2D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5"/>
            <a:ext cx="731520" cy="731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6607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D2F0"/>
                </a:solidFill>
                <a:latin typeface="Arial"/>
              </a:defRPr>
            </a:pPr>
            <a:r>
              <a:t>文档水印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7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9"/>
                </a:solidFill>
                <a:latin typeface="Arial"/>
              </a:defRPr>
            </a:pPr>
            <a:r>
              <a:t>报告与文档品牌标识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5647" y="4480560"/>
            <a:ext cx="3200400" cy="2286000"/>
          </a:xfrm>
          <a:prstGeom prst="rect">
            <a:avLst/>
          </a:prstGeom>
          <a:solidFill>
            <a:srgbClr val="0F1630"/>
          </a:solidFill>
          <a:ln w="12700">
            <a:solidFill>
              <a:srgbClr val="2D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" y="5"/>
            <a:ext cx="731520" cy="731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95647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D2F0"/>
                </a:solidFill>
                <a:latin typeface="Arial"/>
              </a:defRPr>
            </a:pPr>
            <a:r>
              <a:t>品牌周边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9"/>
                </a:solidFill>
                <a:latin typeface="Arial"/>
              </a:defRPr>
            </a:pPr>
            <a:r>
              <a:t>T恤、杯子、工牌等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4687" y="4480560"/>
            <a:ext cx="3200400" cy="2286000"/>
          </a:xfrm>
          <a:prstGeom prst="rect">
            <a:avLst/>
          </a:prstGeom>
          <a:solidFill>
            <a:srgbClr val="0F1630"/>
          </a:solidFill>
          <a:ln w="12700">
            <a:solidFill>
              <a:srgbClr val="2D4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" y="5"/>
            <a:ext cx="731520" cy="7315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44687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ED2F0"/>
                </a:solidFill>
                <a:latin typeface="Arial"/>
              </a:defRPr>
            </a:pPr>
            <a:r>
              <a:t>发布会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4687" y="6035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296B9"/>
                </a:solidFill>
                <a:latin typeface="Arial"/>
              </a:defRPr>
            </a:pPr>
            <a:r>
              <a:t>Keynote 与宣传海报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807" y="1097280"/>
            <a:ext cx="292608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389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4D2FF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CA5CD"/>
                </a:solidFill>
                <a:latin typeface="Arial"/>
              </a:defRPr>
            </a:pPr>
            <a:r>
              <a:t>AISee · 安全看得见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